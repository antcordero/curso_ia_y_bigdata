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132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456"/>
            <a:ext cx="2451088" cy="640080"/>
          </a:xfrm>
          <a:prstGeom prst="rect">
            <a:avLst/>
          </a:prstGeom>
        </p:spPr>
      </p:pic>
      <p:pic>
        <p:nvPicPr>
          <p:cNvPr id="6" name="Picture 5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8660" y="219456"/>
            <a:ext cx="1744532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10058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 i="0">
                <a:solidFill>
                  <a:srgbClr val="007A33"/>
                </a:solidFill>
                <a:latin typeface="Calibri Light"/>
              </a:rPr>
              <a:t>MÓDULO: 5074 — Sistemas de Big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574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 i="0">
                <a:solidFill>
                  <a:srgbClr val="FFFFFF"/>
                </a:solidFill>
                <a:latin typeface="Calibri"/>
              </a:rPr>
              <a:t>Sesión 01: Big Data y Complejidad Algorítmica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700" i="0">
                <a:solidFill>
                  <a:srgbClr val="F2F2F2"/>
                </a:solidFill>
                <a:latin typeface="Calibri"/>
              </a:rPr>
              <a:t>Presentación del módulo · Matemática discreta · Notación Big 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576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 i="0">
                <a:solidFill>
                  <a:srgbClr val="AACCFF"/>
                </a:solidFill>
                <a:latin typeface="Calibri"/>
              </a:rPr>
              <a:t>03/07/2026  ·  3 horas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97680"/>
            <a:ext cx="11457432" cy="2103120"/>
          </a:xfrm>
          <a:prstGeom prst="rect">
            <a:avLst/>
          </a:prstGeom>
          <a:solidFill>
            <a:srgbClr val="15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370832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007A33"/>
                </a:solidFill>
                <a:latin typeface="Calibri"/>
              </a:rPr>
              <a:t>Objetivos de la sesión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11091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Conocer la estructura, contenidos y evaluación del módulo SBD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Identificar conceptos de matemática discreta aplicados a Big Data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Comprender la notación Big O y su importancia en algoritmos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Relacionar complejidad computacional con grandes volúmenes de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103120"/>
            <a:ext cx="11457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800" i="0">
                <a:solidFill>
                  <a:srgbClr val="FFFFFF"/>
                </a:solidFill>
                <a:latin typeface="Calibri"/>
              </a:rPr>
              <a:t>Bienvenida al módulo SBD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800" i="0">
                <a:solidFill>
                  <a:srgbClr val="F2F2F2"/>
                </a:solidFill>
                <a:latin typeface="Calibri"/>
              </a:rPr>
              <a:t>5074 — Sistemas de Big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14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 i="0">
                <a:solidFill>
                  <a:srgbClr val="007A33"/>
                </a:solidFill>
                <a:latin typeface="Calibri"/>
              </a:rPr>
              <a:t>Introducción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3/26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Qué veremos en esta sesión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27048"/>
            <a:ext cx="11457432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Definición de Big Data y las 5 Vs con ejemplos del mundo real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Fundamentos de matemática discreta: conjuntos, grafos y lógica proposicional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Notación Big O y su impacto al procesar millones o miles de millones de registros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Comparativa de algoritmos de ordenación y su viabilidad en entornos Big Data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Primer contacto con Python: medición de tiempos con time, random y sorted()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103120"/>
            <a:ext cx="11457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800" i="0">
                <a:solidFill>
                  <a:srgbClr val="FFFFFF"/>
                </a:solidFill>
                <a:latin typeface="Calibri"/>
              </a:rPr>
              <a:t>¿Qué es Big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800" i="0">
                <a:solidFill>
                  <a:srgbClr val="F2F2F2"/>
                </a:solidFill>
                <a:latin typeface="Calibri"/>
              </a:rPr>
              <a:t>Más allá del volumen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14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 i="0">
                <a:solidFill>
                  <a:srgbClr val="007A33"/>
                </a:solidFill>
                <a:latin typeface="Calibri"/>
              </a:rPr>
              <a:t>Bloque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5/26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Definición de Big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27048"/>
            <a:ext cx="11457432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Conjuntos de datos tan grandes y complejos que el procesamiento tradicional resulta inadecuado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Incluye volumen masivo, velocidad de generación y variedad de formatos simultáneamente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Requiere arquitecturas distribuidas, procesamiento paralelo y algoritmos eficientes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El objetivo final es extraer valor útil para la toma de decisiones en la organización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6/26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Las 5 Vs del Big Data (I)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27048"/>
            <a:ext cx="11457432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Volumen: cantidad de datos generada — Facebook supera los 300 petabytes almacenados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Velocidad: rapidez con la que llegan y deben procesarse — transacciones en tiempo real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Variedad: datos estructurados, semi-estructurados y no estructurados en el mismo ecosistema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7/26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Las 5 Vs del Big Data (II)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27048"/>
            <a:ext cx="11457432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Veracidad: calidad e incertidumbre — no todos los datos son exactos ni fiables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Valor: utilidad real extraída — patrones, predicciones y decisiones de negocio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Sin valor, acumular datos masivos no aporta ventaja competitiva a la organización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Big Data frente a datos tradicionales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27048"/>
            <a:ext cx="6645310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Los sistemas clásicos asumen datos que caben en un servidor y esquema fijo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Big Data distribuye el procesamiento en clusters y acepta schema-on-read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La elección de herramienta depende de volumen, latencia y tipo de consulta</a:t>
            </a:r>
          </a:p>
        </p:txBody>
      </p:sp>
      <p:pic>
        <p:nvPicPr>
          <p:cNvPr id="13" name="Picture 12" descr="bigo-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368" y="1787012"/>
            <a:ext cx="4353824" cy="4353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69368" y="6126480"/>
            <a:ext cx="435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 i="1">
                <a:solidFill>
                  <a:srgbClr val="444444"/>
                </a:solidFill>
                <a:latin typeface="Calibri"/>
              </a:rPr>
              <a:t>Comparativa de escalabilidad: tradicional vs Big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103120"/>
            <a:ext cx="11457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800" i="0">
                <a:solidFill>
                  <a:srgbClr val="FFFFFF"/>
                </a:solidFill>
                <a:latin typeface="Calibri"/>
              </a:rPr>
              <a:t>Matemática discreta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800" i="0">
                <a:solidFill>
                  <a:srgbClr val="F2F2F2"/>
                </a:solidFill>
                <a:latin typeface="Calibri"/>
              </a:rPr>
              <a:t>Base teórica para algoritmos y consultas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14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 i="0">
                <a:solidFill>
                  <a:srgbClr val="007A33"/>
                </a:solidFill>
                <a:latin typeface="Calibri"/>
              </a:rPr>
              <a:t>Bloque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10/26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Teoría de conjuntos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27048"/>
            <a:ext cx="11457432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Unión (A ∪ B): combinar registros de dos fuentes — equivalente a UNION en SQL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Intersección (A ∩ B): registros comunes a ambas fuentes — equivalente a INNER JOIN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Diferencia (A − B): elementos en A que no están en B — equivalente a EXCEPT o filtros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Pandas y Spark implementan estas operaciones sobre millones de filas en paralelo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11/26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Teoría de grafos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27048"/>
            <a:ext cx="11457432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Nodos representan entidades: usuarios, productos, cuentas bancarias o páginas web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Aristas representan relaciones: amistad, compra, transferencia o enlace entre sitios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Aplicaciones: redes sociales, sistemas de recomendación y detección de fraude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PageRank de Google ordena páginas web modelando la web como un grafo dirigido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12/26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Lógica proposicional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27048"/>
            <a:ext cx="11457432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AND (∧): ambas condiciones deben cumplirse — filtros combinados en consultas SQL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OR (∨): al menos una condición debe cumplirse — criterios alternativos de selección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NOT (¬): negación de una condición — excluir registros que no interesan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Toda consulta WHERE en bases de datos se expresa con operadores lógicos básicos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103120"/>
            <a:ext cx="11457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800" i="0">
                <a:solidFill>
                  <a:srgbClr val="FFFFFF"/>
                </a:solidFill>
                <a:latin typeface="Calibri"/>
              </a:rPr>
              <a:t>Complejidad algorítmica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800" i="0">
                <a:solidFill>
                  <a:srgbClr val="F2F2F2"/>
                </a:solidFill>
                <a:latin typeface="Calibri"/>
              </a:rPr>
              <a:t>Notación Big 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14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 i="0">
                <a:solidFill>
                  <a:srgbClr val="007A33"/>
                </a:solidFill>
                <a:latin typeface="Calibri"/>
              </a:rPr>
              <a:t>Bloque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14/26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¿Por qué importa Big O en Big Data?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27048"/>
            <a:ext cx="11457432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Mide cómo crece el tiempo o la memoria cuando aumenta el tamaño de la entrada 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Big O describe el peor caso de crecimiento — la garantía que necesitamos a escala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Un algoritmo O(n²) puede ser aceptable con 1.000 registros e inviable con 1 millón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La elección del algoritmo determina si un pipeline es viable en producción o 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15/26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Impacto práctico con n = 1.000.000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27048"/>
            <a:ext cx="11457432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O(1): 1 operación — 0,000001 s con 1 μs por operación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O(log n): ~20 operaciones — 0,00002 s, crece muy lentamente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O(n): 1.000.000 operaciones — ~1 segundo de ejecución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O(n log n): ~20 millones de operaciones — ~20 segundos, aceptable en ordenación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O(n²): 1 billón de operaciones — ~11,5 días, inviable en producción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16/26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Complejidades: viable vs inviable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527048"/>
            <a:ext cx="5637276" cy="4873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18488"/>
            <a:ext cx="5454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1A376C"/>
                </a:solidFill>
                <a:latin typeface="Calibri"/>
              </a:rPr>
              <a:t>Adecuadas para Big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75688"/>
            <a:ext cx="5454396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O(1): acceso constante por índice — ideal en cualquier escala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O(log n): búsqueda binaria — crece muy lentamente al aumentar 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O(n): recorrido lineal — aceptable con particionado y paralelismo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O(n log n): Merge Sort, Quick Sort, Timsort — estándar en ordenación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5916" y="1527048"/>
            <a:ext cx="5637276" cy="4873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7356" y="1618488"/>
            <a:ext cx="5454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1A376C"/>
                </a:solidFill>
                <a:latin typeface="Calibri"/>
              </a:rPr>
              <a:t>Problemáticas o inviables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7356" y="2075688"/>
            <a:ext cx="5454396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O(n²): Bubble Sort — doble bucle, explota con datasets grandes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O(n³): operaciones cúbicas — evitar en pipelines de producción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O(2ⁿ): exponencial — imposible incluso con decenas de elementos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Regla práctica: ningún O(n²) o peor en procesamiento masivo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17/26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Jerarquía de complejidades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27048"/>
            <a:ext cx="6645310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A medida que n crece, las curvas O(n²) y O(2ⁿ) se separan brutalmente de O(n log n)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En Big Data priorizamos algoritmos cuya curva crece lo más lentamente posible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Spark y Hadoop distribuyen O(n log n) entre nodos para mantener tiempos razonables</a:t>
            </a:r>
          </a:p>
        </p:txBody>
      </p:sp>
      <p:pic>
        <p:nvPicPr>
          <p:cNvPr id="13" name="Picture 12" descr="complexity-hierarc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368" y="1787012"/>
            <a:ext cx="4353824" cy="4353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69368" y="6126480"/>
            <a:ext cx="435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 i="1">
                <a:solidFill>
                  <a:srgbClr val="444444"/>
                </a:solidFill>
                <a:latin typeface="Calibri"/>
              </a:rPr>
              <a:t>Curvas de crecimiento: de O(1) a O(2ⁿ)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103120"/>
            <a:ext cx="11457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800" i="0">
                <a:solidFill>
                  <a:srgbClr val="FFFFFF"/>
                </a:solidFill>
                <a:latin typeface="Calibri"/>
              </a:rPr>
              <a:t>Algoritmos de ordenación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800" i="0">
                <a:solidFill>
                  <a:srgbClr val="F2F2F2"/>
                </a:solidFill>
                <a:latin typeface="Calibri"/>
              </a:rPr>
              <a:t>La operación fundamental del procesamiento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14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 i="0">
                <a:solidFill>
                  <a:srgbClr val="007A33"/>
                </a:solidFill>
                <a:latin typeface="Calibri"/>
              </a:rPr>
              <a:t>Bloque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19/26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Bubble Sort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27048"/>
            <a:ext cx="11457432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Compara elementos adyacentes e intercambia si están desordenados, repetidamente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Complejidad O(n²) en promedio y peor caso — espacio O(1), ordena in-place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Útil para aprender el concepto, pero no recomendado para Big Data ni producción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Quick Sort y Merge Sort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527048"/>
            <a:ext cx="5637276" cy="4873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18488"/>
            <a:ext cx="5454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1A376C"/>
                </a:solidFill>
                <a:latin typeface="Calibri"/>
              </a:rPr>
              <a:t>Quick Sort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75688"/>
            <a:ext cx="5454396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Divide y vencerás: elige un pivote y particiona la lista en dos sublistas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O(n log n) en promedio — O(n²) en el peor caso con pivote desfavorable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Muy usado en la práctica, especialmente variantes optimizadas in-place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5916" y="1527048"/>
            <a:ext cx="5637276" cy="4873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7356" y="1618488"/>
            <a:ext cx="54543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1A376C"/>
                </a:solidFill>
                <a:latin typeface="Calibri"/>
              </a:rPr>
              <a:t>Merge Sort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7356" y="2075688"/>
            <a:ext cx="5454396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Divide la lista, ordena recursivamente cada mitad y mezcla los resultados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O(n log n) garantizado en todos los casos — comportamiento predecible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• Excelente para datos distribuidos: cada nodo ordena su partición y luego se fusiona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21/26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Timsort: el algoritmo de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27048"/>
            <a:ext cx="11457432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Híbrido de Merge Sort e Insertion Sort, implementado en sorted() y list.sort()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O(n log n) en el peor caso y O(n) en el mejor caso si los datos ya están ordenados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Estable: elementos iguales mantienen su orden relativo tras la ordenación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Siempre preferir sorted() o .sort() frente a implementar Bubble Sort manualmente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22/26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Comparativa visual de ordenación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27048"/>
            <a:ext cx="6645310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Bubble Sort crece cuadráticamente — inviable al ordenar millones de registros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Merge Sort y Timsort mantienen O(n log n) — base de sorted() en Python y pandas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En la práctica, la ordenación nativa de Python supera siempre a Bubble Sort manual</a:t>
            </a:r>
          </a:p>
        </p:txBody>
      </p:sp>
      <p:pic>
        <p:nvPicPr>
          <p:cNvPr id="13" name="Picture 12" descr="sorting-algorith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368" y="1787012"/>
            <a:ext cx="4353824" cy="4353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69368" y="6126480"/>
            <a:ext cx="435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 i="1">
                <a:solidFill>
                  <a:srgbClr val="444444"/>
                </a:solidFill>
                <a:latin typeface="Calibri"/>
              </a:rPr>
              <a:t>Comparativa de tiempos entre algoritmos de ordenación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23/26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Módulos Python: time y random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27048"/>
            <a:ext cx="11457432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time.time() devuelve segundos desde el epoch (1 enero 1970) — útil para medir duración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Patrón estándar: inicio = time.time(), ejecutar código, duracion = time.time() - inicio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random.randint(a, b) genera enteros aleatorios para crear datasets de prueba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random.seed(42) fija la semilla y garantiza resultados reproducibles entre ejecuciones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 i="0">
                <a:solidFill>
                  <a:srgbClr val="1A376C"/>
                </a:solidFill>
                <a:latin typeface="Calibri"/>
              </a:rPr>
              <a:t>Medir tiempos de ordenación en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7"/>
            <a:ext cx="11457432" cy="25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527048"/>
            <a:ext cx="11457432" cy="487375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527048"/>
            <a:ext cx="11457432" cy="292608"/>
          </a:xfrm>
          <a:prstGeom prst="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563624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8888AA"/>
                </a:solidFill>
                <a:latin typeface="Calibri"/>
              </a:rPr>
              <a:t>●  ●  ●  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874520"/>
            <a:ext cx="11183112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A8FF78"/>
                </a:solidFill>
                <a:latin typeface="Courier New"/>
              </a:rPr>
              <a:t>import time
import random
def generar_lista(n):
    return [random.randint(1, 10000) for _ in range(n)]
def medir_tiempo(lista):
    inicio = time.time()
    sorted(lista)  # Timsort — O(n log n)
    return time.time() - inicio
tamanos = [1000, 10000, 100000, 1000000]
print("Tamaño\t\tTiempo (s)")
for n in tamanos:
    lista = generar_lista(n)
    print(f"{n:,}\t\t{medir_tiempo(lista):.4f}")
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2100932" cy="548640"/>
          </a:xfrm>
          <a:prstGeom prst="rect">
            <a:avLst/>
          </a:prstGeom>
        </p:spPr>
      </p:pic>
      <p:pic>
        <p:nvPicPr>
          <p:cNvPr id="4" name="Picture 3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879" y="109728"/>
            <a:ext cx="1495313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2906" y="182880"/>
            <a:ext cx="5363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 i="0">
                <a:solidFill>
                  <a:srgbClr val="1A376C"/>
                </a:solidFill>
                <a:latin typeface="Calibri"/>
              </a:rPr>
              <a:t>Sesión 01 — Big Data y Complejidad Algorítmica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51840"/>
            <a:ext cx="12188952" cy="381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7511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FFFFFF"/>
                </a:solidFill>
                <a:latin typeface="Calibri"/>
              </a:rPr>
              <a:t>CPIFP Alan Turing  ·  5074 — Sistemas de Big Data  ·  Sesión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5105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FFFFFF"/>
                </a:solidFill>
                <a:latin typeface="Calibri"/>
              </a:rPr>
              <a:t>25/26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868680"/>
            <a:ext cx="12188952" cy="594360"/>
          </a:xfrm>
          <a:prstGeom prst="rect">
            <a:avLst/>
          </a:prstGeom>
          <a:solidFill>
            <a:srgbClr val="E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941832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 i="0">
                <a:solidFill>
                  <a:srgbClr val="FFFFFF"/>
                </a:solidFill>
                <a:latin typeface="Calibri"/>
              </a:rPr>
              <a:t>⚡  EJERCICIO: Investigación y medición de algoritmos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54480"/>
            <a:ext cx="11457432" cy="27660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27632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E86B00"/>
                </a:solidFill>
                <a:latin typeface="Calibri"/>
              </a:rPr>
              <a:t>Enunciado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0"/>
            <a:ext cx="11183112" cy="2235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En parejas, documentar complejidad mejor, peor y promedio de Bubble, Quick o Merge Sort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Implementar Bubble Sort y comparar tiempos con sorted() para n = 1000, 5000 y 10000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Responder: ¿a partir de qué tamaño Bubble Sort deja de ser viable en tu equipo?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11980"/>
            <a:ext cx="5637276" cy="19888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85132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E86B00"/>
                </a:solidFill>
                <a:latin typeface="Calibri"/>
              </a:rPr>
              <a:t>💡 Pistas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69180"/>
            <a:ext cx="5454396" cy="1458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444444"/>
                </a:solidFill>
                <a:latin typeface="Calibri"/>
              </a:rPr>
              <a:t>• Usar time.time() antes y después de cada ordenación para medir duración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444444"/>
                </a:solidFill>
                <a:latin typeface="Calibri"/>
              </a:rPr>
              <a:t>• Generar listas con random.randint para datos de prueba reproducibles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444444"/>
                </a:solidFill>
                <a:latin typeface="Calibri"/>
              </a:rPr>
              <a:t>• Consultar bigocheatsheet.com y visualgo.net para validar complejidades teóricas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5916" y="4411980"/>
            <a:ext cx="5637276" cy="19888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7356" y="4485132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007A33"/>
                </a:solidFill>
                <a:latin typeface="Calibri"/>
              </a:rPr>
              <a:t>📋 Lo que se evalúa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7356" y="4869180"/>
            <a:ext cx="5454396" cy="1458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444444"/>
                </a:solidFill>
                <a:latin typeface="Calibri"/>
              </a:rPr>
              <a:t>• Tabla comparativa con tiempos medidos para ambos algoritmos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444444"/>
                </a:solidFill>
                <a:latin typeface="Calibri"/>
              </a:rPr>
              <a:t>• Documentación correcta de complejidades teóricas del algoritmo elegido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444444"/>
                </a:solidFill>
                <a:latin typeface="Calibri"/>
              </a:rPr>
              <a:t>• Reflexión escrita sobre la relación entre Big O y datos a gran escala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junta-anda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456"/>
            <a:ext cx="2451088" cy="640080"/>
          </a:xfrm>
          <a:prstGeom prst="rect">
            <a:avLst/>
          </a:prstGeom>
        </p:spPr>
      </p:pic>
      <p:pic>
        <p:nvPicPr>
          <p:cNvPr id="6" name="Picture 5" descr="logo-cpifp-alan-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8660" y="219456"/>
            <a:ext cx="1744532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 i="0">
                <a:solidFill>
                  <a:srgbClr val="007A33"/>
                </a:solidFill>
                <a:latin typeface="Calibri"/>
              </a:rPr>
              <a:t>Resumen de la sesión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4303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Big Data: volumen, velocidad, variedad, veracidad y valor — no solo tamaño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Matemática discreta: conjuntos, grafos y lógica son la base de consultas y algoritmos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Big O: O(n log n) viable, O(n²) inviable — la escala cambia las reglas del juego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Python sorted() usa Timsort — preferir librerías optimizadas frente a bucles manuales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57600"/>
            <a:ext cx="56372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007A33"/>
                </a:solidFill>
                <a:latin typeface="Calibri"/>
              </a:rPr>
              <a:t>📋 Tarea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69080"/>
            <a:ext cx="56372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Completar notebook sesion-01: medición de tiempos y comparativa de ordenación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Descargar Sample Sales Data en Kaggle y medir tiempos de sort, filter y groupby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5916" y="3657600"/>
            <a:ext cx="56372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007A33"/>
                </a:solidFill>
                <a:latin typeface="Calibri"/>
              </a:rPr>
              <a:t>🔗 Próxima sesión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916" y="4069080"/>
            <a:ext cx="56372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Sesión 02: lógica algorítmica y estructuras de datos (listas, heaps, árboles B)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Revisar visualgo.net y el vídeo de estructuras de datos (primeros 30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5778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800" i="0">
                <a:solidFill>
                  <a:srgbClr val="FFFFFF"/>
                </a:solidFill>
                <a:latin typeface="Calibri"/>
              </a:rPr>
              <a:t>❓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